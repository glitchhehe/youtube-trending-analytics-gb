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33ECF-E2DA-48E2-B6B6-76315E634D59}" v="1" dt="2025-12-11T18:33:02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Irfan" userId="78688a629e572b49" providerId="LiveId" clId="{6773685F-71EF-4874-AE5E-409FB4BB48B2}"/>
    <pc:docChg chg="modSld">
      <pc:chgData name="Fatima Irfan" userId="78688a629e572b49" providerId="LiveId" clId="{6773685F-71EF-4874-AE5E-409FB4BB48B2}" dt="2025-12-11T18:33:02.289" v="0"/>
      <pc:docMkLst>
        <pc:docMk/>
      </pc:docMkLst>
      <pc:sldChg chg="modSp">
        <pc:chgData name="Fatima Irfan" userId="78688a629e572b49" providerId="LiveId" clId="{6773685F-71EF-4874-AE5E-409FB4BB48B2}" dt="2025-12-11T18:33:02.289" v="0"/>
        <pc:sldMkLst>
          <pc:docMk/>
          <pc:sldMk cId="0" sldId="256"/>
        </pc:sldMkLst>
        <pc:spChg chg="mod">
          <ac:chgData name="Fatima Irfan" userId="78688a629e572b49" providerId="LiveId" clId="{6773685F-71EF-4874-AE5E-409FB4BB48B2}" dt="2025-12-11T18:33:02.289" v="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AB57D8-06D0-4AD3-BCEF-80729E661A6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15F108-F8CA-4A4A-9B49-3DCC765208BE}">
      <dgm:prSet/>
      <dgm:spPr/>
      <dgm:t>
        <a:bodyPr/>
        <a:lstStyle/>
        <a:p>
          <a:r>
            <a:rPr lang="en-US"/>
            <a:t>Analyze</a:t>
          </a:r>
        </a:p>
      </dgm:t>
    </dgm:pt>
    <dgm:pt modelId="{7C93463C-D1FB-43E4-8642-A006C9EE8E4F}" type="parTrans" cxnId="{F8DA51B0-3830-4A36-BF14-8CF292F18C44}">
      <dgm:prSet/>
      <dgm:spPr/>
      <dgm:t>
        <a:bodyPr/>
        <a:lstStyle/>
        <a:p>
          <a:endParaRPr lang="en-US"/>
        </a:p>
      </dgm:t>
    </dgm:pt>
    <dgm:pt modelId="{CA12CACC-01A7-4BE5-BE09-EA0EAB554CA7}" type="sibTrans" cxnId="{F8DA51B0-3830-4A36-BF14-8CF292F18C44}">
      <dgm:prSet/>
      <dgm:spPr/>
      <dgm:t>
        <a:bodyPr/>
        <a:lstStyle/>
        <a:p>
          <a:endParaRPr lang="en-US"/>
        </a:p>
      </dgm:t>
    </dgm:pt>
    <dgm:pt modelId="{1DE49D8F-5976-48F8-8A5C-74B319663EFC}">
      <dgm:prSet/>
      <dgm:spPr/>
      <dgm:t>
        <a:bodyPr/>
        <a:lstStyle/>
        <a:p>
          <a:r>
            <a:rPr lang="en-US"/>
            <a:t>Analyze YouTube Trending Videos for UK region</a:t>
          </a:r>
        </a:p>
      </dgm:t>
    </dgm:pt>
    <dgm:pt modelId="{C37D5D5A-EAC6-4895-AAC9-F41AE3485D85}" type="parTrans" cxnId="{7E6A3BA2-44AD-4D59-8FDD-721357E5251F}">
      <dgm:prSet/>
      <dgm:spPr/>
      <dgm:t>
        <a:bodyPr/>
        <a:lstStyle/>
        <a:p>
          <a:endParaRPr lang="en-US"/>
        </a:p>
      </dgm:t>
    </dgm:pt>
    <dgm:pt modelId="{6F5959E0-B7E3-4B2E-82EC-56F3B9D933E2}" type="sibTrans" cxnId="{7E6A3BA2-44AD-4D59-8FDD-721357E5251F}">
      <dgm:prSet/>
      <dgm:spPr/>
      <dgm:t>
        <a:bodyPr/>
        <a:lstStyle/>
        <a:p>
          <a:endParaRPr lang="en-US"/>
        </a:p>
      </dgm:t>
    </dgm:pt>
    <dgm:pt modelId="{6A5C88B4-C6FC-4B16-BFD3-D7BB31FB3C51}">
      <dgm:prSet/>
      <dgm:spPr/>
      <dgm:t>
        <a:bodyPr/>
        <a:lstStyle/>
        <a:p>
          <a:r>
            <a:rPr lang="en-US"/>
            <a:t>Understand</a:t>
          </a:r>
        </a:p>
      </dgm:t>
    </dgm:pt>
    <dgm:pt modelId="{73BC254F-EBCF-4B39-8EDD-513D2603AA12}" type="parTrans" cxnId="{0626CBAA-2FE0-41D1-9681-A2B5159E6926}">
      <dgm:prSet/>
      <dgm:spPr/>
      <dgm:t>
        <a:bodyPr/>
        <a:lstStyle/>
        <a:p>
          <a:endParaRPr lang="en-US"/>
        </a:p>
      </dgm:t>
    </dgm:pt>
    <dgm:pt modelId="{8E4DE329-F622-4C89-9497-A15074926DD4}" type="sibTrans" cxnId="{0626CBAA-2FE0-41D1-9681-A2B5159E6926}">
      <dgm:prSet/>
      <dgm:spPr/>
      <dgm:t>
        <a:bodyPr/>
        <a:lstStyle/>
        <a:p>
          <a:endParaRPr lang="en-US"/>
        </a:p>
      </dgm:t>
    </dgm:pt>
    <dgm:pt modelId="{7C00252E-CCF0-46BF-8DC8-A78217AF3119}">
      <dgm:prSet/>
      <dgm:spPr/>
      <dgm:t>
        <a:bodyPr/>
        <a:lstStyle/>
        <a:p>
          <a:r>
            <a:rPr lang="en-US"/>
            <a:t>Understand which channels/categories appear most</a:t>
          </a:r>
        </a:p>
      </dgm:t>
    </dgm:pt>
    <dgm:pt modelId="{07E442E6-ED89-44C6-B4D2-F326F7D78CDE}" type="parTrans" cxnId="{53711FFE-7F51-4C35-9619-87ECC684DFDB}">
      <dgm:prSet/>
      <dgm:spPr/>
      <dgm:t>
        <a:bodyPr/>
        <a:lstStyle/>
        <a:p>
          <a:endParaRPr lang="en-US"/>
        </a:p>
      </dgm:t>
    </dgm:pt>
    <dgm:pt modelId="{C84EAD8F-E06B-4521-8F80-73E58527F53B}" type="sibTrans" cxnId="{53711FFE-7F51-4C35-9619-87ECC684DFDB}">
      <dgm:prSet/>
      <dgm:spPr/>
      <dgm:t>
        <a:bodyPr/>
        <a:lstStyle/>
        <a:p>
          <a:endParaRPr lang="en-US"/>
        </a:p>
      </dgm:t>
    </dgm:pt>
    <dgm:pt modelId="{6CF6B0A2-3828-4EFA-A6EE-E5B35727C507}">
      <dgm:prSet/>
      <dgm:spPr/>
      <dgm:t>
        <a:bodyPr/>
        <a:lstStyle/>
        <a:p>
          <a:r>
            <a:rPr lang="en-US"/>
            <a:t>Identify</a:t>
          </a:r>
        </a:p>
      </dgm:t>
    </dgm:pt>
    <dgm:pt modelId="{E9AF6324-43F8-4F1C-9B19-DC98C2B8EE01}" type="parTrans" cxnId="{03AA154A-1207-499E-9AF9-4295B8351D8D}">
      <dgm:prSet/>
      <dgm:spPr/>
      <dgm:t>
        <a:bodyPr/>
        <a:lstStyle/>
        <a:p>
          <a:endParaRPr lang="en-US"/>
        </a:p>
      </dgm:t>
    </dgm:pt>
    <dgm:pt modelId="{B52CCA8D-9012-461A-8DBD-000DAE56730B}" type="sibTrans" cxnId="{03AA154A-1207-499E-9AF9-4295B8351D8D}">
      <dgm:prSet/>
      <dgm:spPr/>
      <dgm:t>
        <a:bodyPr/>
        <a:lstStyle/>
        <a:p>
          <a:endParaRPr lang="en-US"/>
        </a:p>
      </dgm:t>
    </dgm:pt>
    <dgm:pt modelId="{07D58500-471B-4E4D-BEC6-EE85EF6E0F97}">
      <dgm:prSet/>
      <dgm:spPr/>
      <dgm:t>
        <a:bodyPr/>
        <a:lstStyle/>
        <a:p>
          <a:r>
            <a:rPr lang="en-US"/>
            <a:t>Identify factors influencing views &amp; engagement</a:t>
          </a:r>
        </a:p>
      </dgm:t>
    </dgm:pt>
    <dgm:pt modelId="{675805F4-052C-469E-8916-993AE4E50CAB}" type="parTrans" cxnId="{DA97CC06-855D-4A36-BFBD-71CEE9D983EB}">
      <dgm:prSet/>
      <dgm:spPr/>
      <dgm:t>
        <a:bodyPr/>
        <a:lstStyle/>
        <a:p>
          <a:endParaRPr lang="en-US"/>
        </a:p>
      </dgm:t>
    </dgm:pt>
    <dgm:pt modelId="{C80B3150-0EC9-4223-8A05-30A6D1D15544}" type="sibTrans" cxnId="{DA97CC06-855D-4A36-BFBD-71CEE9D983EB}">
      <dgm:prSet/>
      <dgm:spPr/>
      <dgm:t>
        <a:bodyPr/>
        <a:lstStyle/>
        <a:p>
          <a:endParaRPr lang="en-US"/>
        </a:p>
      </dgm:t>
    </dgm:pt>
    <dgm:pt modelId="{AA24A2E1-1E21-4B04-8B26-53DE48BB12A8}">
      <dgm:prSet/>
      <dgm:spPr/>
      <dgm:t>
        <a:bodyPr/>
        <a:lstStyle/>
        <a:p>
          <a:r>
            <a:rPr lang="en-US"/>
            <a:t>Provide</a:t>
          </a:r>
        </a:p>
      </dgm:t>
    </dgm:pt>
    <dgm:pt modelId="{1C762945-0B95-4F9D-A68C-9CCD80225DE5}" type="parTrans" cxnId="{C1045CE8-F405-4E06-9534-10A87D591754}">
      <dgm:prSet/>
      <dgm:spPr/>
      <dgm:t>
        <a:bodyPr/>
        <a:lstStyle/>
        <a:p>
          <a:endParaRPr lang="en-US"/>
        </a:p>
      </dgm:t>
    </dgm:pt>
    <dgm:pt modelId="{7632E93D-BC3B-4ED3-80BA-9837794E3897}" type="sibTrans" cxnId="{C1045CE8-F405-4E06-9534-10A87D591754}">
      <dgm:prSet/>
      <dgm:spPr/>
      <dgm:t>
        <a:bodyPr/>
        <a:lstStyle/>
        <a:p>
          <a:endParaRPr lang="en-US"/>
        </a:p>
      </dgm:t>
    </dgm:pt>
    <dgm:pt modelId="{3EBD4FFA-4327-4196-8974-93073E328221}">
      <dgm:prSet/>
      <dgm:spPr/>
      <dgm:t>
        <a:bodyPr/>
        <a:lstStyle/>
        <a:p>
          <a:r>
            <a:rPr lang="en-US"/>
            <a:t>Provide a channel insights toolkit for creators</a:t>
          </a:r>
        </a:p>
      </dgm:t>
    </dgm:pt>
    <dgm:pt modelId="{57B05197-AD44-41BB-9448-77A49965E4FC}" type="parTrans" cxnId="{75328238-DCDC-4ACF-9FB6-55A6EC9A288E}">
      <dgm:prSet/>
      <dgm:spPr/>
      <dgm:t>
        <a:bodyPr/>
        <a:lstStyle/>
        <a:p>
          <a:endParaRPr lang="en-US"/>
        </a:p>
      </dgm:t>
    </dgm:pt>
    <dgm:pt modelId="{11CD496E-0FF3-421A-B881-D68E88F57126}" type="sibTrans" cxnId="{75328238-DCDC-4ACF-9FB6-55A6EC9A288E}">
      <dgm:prSet/>
      <dgm:spPr/>
      <dgm:t>
        <a:bodyPr/>
        <a:lstStyle/>
        <a:p>
          <a:endParaRPr lang="en-US"/>
        </a:p>
      </dgm:t>
    </dgm:pt>
    <dgm:pt modelId="{2A677FF5-98CE-464B-9409-A8080F7339C1}" type="pres">
      <dgm:prSet presAssocID="{83AB57D8-06D0-4AD3-BCEF-80729E661A6A}" presName="Name0" presStyleCnt="0">
        <dgm:presLayoutVars>
          <dgm:dir/>
          <dgm:animLvl val="lvl"/>
          <dgm:resizeHandles val="exact"/>
        </dgm:presLayoutVars>
      </dgm:prSet>
      <dgm:spPr/>
    </dgm:pt>
    <dgm:pt modelId="{17CF5739-2DA5-4DD4-8226-7E4A4233FCE9}" type="pres">
      <dgm:prSet presAssocID="{F215F108-F8CA-4A4A-9B49-3DCC765208BE}" presName="linNode" presStyleCnt="0"/>
      <dgm:spPr/>
    </dgm:pt>
    <dgm:pt modelId="{D4FE35FE-1A6A-494A-A055-027C05129692}" type="pres">
      <dgm:prSet presAssocID="{F215F108-F8CA-4A4A-9B49-3DCC765208BE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5D35DED9-5E5B-4BF7-B861-F01DF422C82F}" type="pres">
      <dgm:prSet presAssocID="{F215F108-F8CA-4A4A-9B49-3DCC765208BE}" presName="descendantText" presStyleLbl="alignAccFollowNode1" presStyleIdx="0" presStyleCnt="4">
        <dgm:presLayoutVars>
          <dgm:bulletEnabled/>
        </dgm:presLayoutVars>
      </dgm:prSet>
      <dgm:spPr/>
    </dgm:pt>
    <dgm:pt modelId="{3499E1F5-0267-40CC-8A11-D8D29A620C64}" type="pres">
      <dgm:prSet presAssocID="{CA12CACC-01A7-4BE5-BE09-EA0EAB554CA7}" presName="sp" presStyleCnt="0"/>
      <dgm:spPr/>
    </dgm:pt>
    <dgm:pt modelId="{EFD0EF88-40CF-47D1-89A0-EBCA7B762B78}" type="pres">
      <dgm:prSet presAssocID="{6A5C88B4-C6FC-4B16-BFD3-D7BB31FB3C51}" presName="linNode" presStyleCnt="0"/>
      <dgm:spPr/>
    </dgm:pt>
    <dgm:pt modelId="{272537CB-EAE3-4429-BD9F-703B134EC339}" type="pres">
      <dgm:prSet presAssocID="{6A5C88B4-C6FC-4B16-BFD3-D7BB31FB3C51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CC33B74C-3FB6-4145-89EB-DC64DF868F58}" type="pres">
      <dgm:prSet presAssocID="{6A5C88B4-C6FC-4B16-BFD3-D7BB31FB3C51}" presName="descendantText" presStyleLbl="alignAccFollowNode1" presStyleIdx="1" presStyleCnt="4">
        <dgm:presLayoutVars>
          <dgm:bulletEnabled/>
        </dgm:presLayoutVars>
      </dgm:prSet>
      <dgm:spPr/>
    </dgm:pt>
    <dgm:pt modelId="{51C6F14E-9844-44A4-A72A-8D9914EA1680}" type="pres">
      <dgm:prSet presAssocID="{8E4DE329-F622-4C89-9497-A15074926DD4}" presName="sp" presStyleCnt="0"/>
      <dgm:spPr/>
    </dgm:pt>
    <dgm:pt modelId="{97701145-22DC-4802-991A-0145A49A9238}" type="pres">
      <dgm:prSet presAssocID="{6CF6B0A2-3828-4EFA-A6EE-E5B35727C507}" presName="linNode" presStyleCnt="0"/>
      <dgm:spPr/>
    </dgm:pt>
    <dgm:pt modelId="{8B69E170-B7D4-4FFE-8DFC-E9368BE80CF6}" type="pres">
      <dgm:prSet presAssocID="{6CF6B0A2-3828-4EFA-A6EE-E5B35727C507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FDD527A2-87D4-489C-AC95-3E96F4D9F9C0}" type="pres">
      <dgm:prSet presAssocID="{6CF6B0A2-3828-4EFA-A6EE-E5B35727C507}" presName="descendantText" presStyleLbl="alignAccFollowNode1" presStyleIdx="2" presStyleCnt="4">
        <dgm:presLayoutVars>
          <dgm:bulletEnabled/>
        </dgm:presLayoutVars>
      </dgm:prSet>
      <dgm:spPr/>
    </dgm:pt>
    <dgm:pt modelId="{BB9714DE-D167-4A78-A08D-DE6210E8FA19}" type="pres">
      <dgm:prSet presAssocID="{B52CCA8D-9012-461A-8DBD-000DAE56730B}" presName="sp" presStyleCnt="0"/>
      <dgm:spPr/>
    </dgm:pt>
    <dgm:pt modelId="{70FFE216-F319-4BB7-8772-65A4A690EED8}" type="pres">
      <dgm:prSet presAssocID="{AA24A2E1-1E21-4B04-8B26-53DE48BB12A8}" presName="linNode" presStyleCnt="0"/>
      <dgm:spPr/>
    </dgm:pt>
    <dgm:pt modelId="{D804B7AE-215E-4216-B909-E92FBCBE1A76}" type="pres">
      <dgm:prSet presAssocID="{AA24A2E1-1E21-4B04-8B26-53DE48BB12A8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52DAAAB7-ED4A-4458-B5EE-8EC33E215DD6}" type="pres">
      <dgm:prSet presAssocID="{AA24A2E1-1E21-4B04-8B26-53DE48BB12A8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DA97CC06-855D-4A36-BFBD-71CEE9D983EB}" srcId="{6CF6B0A2-3828-4EFA-A6EE-E5B35727C507}" destId="{07D58500-471B-4E4D-BEC6-EE85EF6E0F97}" srcOrd="0" destOrd="0" parTransId="{675805F4-052C-469E-8916-993AE4E50CAB}" sibTransId="{C80B3150-0EC9-4223-8A05-30A6D1D15544}"/>
    <dgm:cxn modelId="{CCE07017-A500-46C6-9503-6A52F735DDAC}" type="presOf" srcId="{1DE49D8F-5976-48F8-8A5C-74B319663EFC}" destId="{5D35DED9-5E5B-4BF7-B861-F01DF422C82F}" srcOrd="0" destOrd="0" presId="urn:microsoft.com/office/officeart/2016/7/layout/VerticalSolidActionList"/>
    <dgm:cxn modelId="{75328238-DCDC-4ACF-9FB6-55A6EC9A288E}" srcId="{AA24A2E1-1E21-4B04-8B26-53DE48BB12A8}" destId="{3EBD4FFA-4327-4196-8974-93073E328221}" srcOrd="0" destOrd="0" parTransId="{57B05197-AD44-41BB-9448-77A49965E4FC}" sibTransId="{11CD496E-0FF3-421A-B881-D68E88F57126}"/>
    <dgm:cxn modelId="{9E6CBD3D-3F8D-4DBF-9B39-930F0B062B79}" type="presOf" srcId="{83AB57D8-06D0-4AD3-BCEF-80729E661A6A}" destId="{2A677FF5-98CE-464B-9409-A8080F7339C1}" srcOrd="0" destOrd="0" presId="urn:microsoft.com/office/officeart/2016/7/layout/VerticalSolidActionList"/>
    <dgm:cxn modelId="{91D04B3E-DE69-4499-BF87-7FDD55C83ECF}" type="presOf" srcId="{6CF6B0A2-3828-4EFA-A6EE-E5B35727C507}" destId="{8B69E170-B7D4-4FFE-8DFC-E9368BE80CF6}" srcOrd="0" destOrd="0" presId="urn:microsoft.com/office/officeart/2016/7/layout/VerticalSolidActionList"/>
    <dgm:cxn modelId="{E3F05762-CA65-4B3C-AE68-2815CD67B091}" type="presOf" srcId="{3EBD4FFA-4327-4196-8974-93073E328221}" destId="{52DAAAB7-ED4A-4458-B5EE-8EC33E215DD6}" srcOrd="0" destOrd="0" presId="urn:microsoft.com/office/officeart/2016/7/layout/VerticalSolidActionList"/>
    <dgm:cxn modelId="{171B4369-7D41-4A94-8A8C-8BEAC19D1B10}" type="presOf" srcId="{AA24A2E1-1E21-4B04-8B26-53DE48BB12A8}" destId="{D804B7AE-215E-4216-B909-E92FBCBE1A76}" srcOrd="0" destOrd="0" presId="urn:microsoft.com/office/officeart/2016/7/layout/VerticalSolidActionList"/>
    <dgm:cxn modelId="{03AA154A-1207-499E-9AF9-4295B8351D8D}" srcId="{83AB57D8-06D0-4AD3-BCEF-80729E661A6A}" destId="{6CF6B0A2-3828-4EFA-A6EE-E5B35727C507}" srcOrd="2" destOrd="0" parTransId="{E9AF6324-43F8-4F1C-9B19-DC98C2B8EE01}" sibTransId="{B52CCA8D-9012-461A-8DBD-000DAE56730B}"/>
    <dgm:cxn modelId="{7E6A3BA2-44AD-4D59-8FDD-721357E5251F}" srcId="{F215F108-F8CA-4A4A-9B49-3DCC765208BE}" destId="{1DE49D8F-5976-48F8-8A5C-74B319663EFC}" srcOrd="0" destOrd="0" parTransId="{C37D5D5A-EAC6-4895-AAC9-F41AE3485D85}" sibTransId="{6F5959E0-B7E3-4B2E-82EC-56F3B9D933E2}"/>
    <dgm:cxn modelId="{0626CBAA-2FE0-41D1-9681-A2B5159E6926}" srcId="{83AB57D8-06D0-4AD3-BCEF-80729E661A6A}" destId="{6A5C88B4-C6FC-4B16-BFD3-D7BB31FB3C51}" srcOrd="1" destOrd="0" parTransId="{73BC254F-EBCF-4B39-8EDD-513D2603AA12}" sibTransId="{8E4DE329-F622-4C89-9497-A15074926DD4}"/>
    <dgm:cxn modelId="{F8DA51B0-3830-4A36-BF14-8CF292F18C44}" srcId="{83AB57D8-06D0-4AD3-BCEF-80729E661A6A}" destId="{F215F108-F8CA-4A4A-9B49-3DCC765208BE}" srcOrd="0" destOrd="0" parTransId="{7C93463C-D1FB-43E4-8642-A006C9EE8E4F}" sibTransId="{CA12CACC-01A7-4BE5-BE09-EA0EAB554CA7}"/>
    <dgm:cxn modelId="{191E0DB1-3BF6-4DA3-A468-5C3FA7400BAF}" type="presOf" srcId="{F215F108-F8CA-4A4A-9B49-3DCC765208BE}" destId="{D4FE35FE-1A6A-494A-A055-027C05129692}" srcOrd="0" destOrd="0" presId="urn:microsoft.com/office/officeart/2016/7/layout/VerticalSolidActionList"/>
    <dgm:cxn modelId="{50002FB5-742D-4AE3-A131-378E40279057}" type="presOf" srcId="{07D58500-471B-4E4D-BEC6-EE85EF6E0F97}" destId="{FDD527A2-87D4-489C-AC95-3E96F4D9F9C0}" srcOrd="0" destOrd="0" presId="urn:microsoft.com/office/officeart/2016/7/layout/VerticalSolidActionList"/>
    <dgm:cxn modelId="{F35301C6-9697-4EEE-A063-61C46DC50599}" type="presOf" srcId="{6A5C88B4-C6FC-4B16-BFD3-D7BB31FB3C51}" destId="{272537CB-EAE3-4429-BD9F-703B134EC339}" srcOrd="0" destOrd="0" presId="urn:microsoft.com/office/officeart/2016/7/layout/VerticalSolidActionList"/>
    <dgm:cxn modelId="{E07ED4CB-6169-4C71-B363-26972BE558EC}" type="presOf" srcId="{7C00252E-CCF0-46BF-8DC8-A78217AF3119}" destId="{CC33B74C-3FB6-4145-89EB-DC64DF868F58}" srcOrd="0" destOrd="0" presId="urn:microsoft.com/office/officeart/2016/7/layout/VerticalSolidActionList"/>
    <dgm:cxn modelId="{C1045CE8-F405-4E06-9534-10A87D591754}" srcId="{83AB57D8-06D0-4AD3-BCEF-80729E661A6A}" destId="{AA24A2E1-1E21-4B04-8B26-53DE48BB12A8}" srcOrd="3" destOrd="0" parTransId="{1C762945-0B95-4F9D-A68C-9CCD80225DE5}" sibTransId="{7632E93D-BC3B-4ED3-80BA-9837794E3897}"/>
    <dgm:cxn modelId="{53711FFE-7F51-4C35-9619-87ECC684DFDB}" srcId="{6A5C88B4-C6FC-4B16-BFD3-D7BB31FB3C51}" destId="{7C00252E-CCF0-46BF-8DC8-A78217AF3119}" srcOrd="0" destOrd="0" parTransId="{07E442E6-ED89-44C6-B4D2-F326F7D78CDE}" sibTransId="{C84EAD8F-E06B-4521-8F80-73E58527F53B}"/>
    <dgm:cxn modelId="{067C5845-AC24-4050-8687-F37458CF7DD0}" type="presParOf" srcId="{2A677FF5-98CE-464B-9409-A8080F7339C1}" destId="{17CF5739-2DA5-4DD4-8226-7E4A4233FCE9}" srcOrd="0" destOrd="0" presId="urn:microsoft.com/office/officeart/2016/7/layout/VerticalSolidActionList"/>
    <dgm:cxn modelId="{977F46D8-696B-447D-9442-12B40C506E5A}" type="presParOf" srcId="{17CF5739-2DA5-4DD4-8226-7E4A4233FCE9}" destId="{D4FE35FE-1A6A-494A-A055-027C05129692}" srcOrd="0" destOrd="0" presId="urn:microsoft.com/office/officeart/2016/7/layout/VerticalSolidActionList"/>
    <dgm:cxn modelId="{7E5FC046-11FA-42C7-AC5D-12C9EB11DBE1}" type="presParOf" srcId="{17CF5739-2DA5-4DD4-8226-7E4A4233FCE9}" destId="{5D35DED9-5E5B-4BF7-B861-F01DF422C82F}" srcOrd="1" destOrd="0" presId="urn:microsoft.com/office/officeart/2016/7/layout/VerticalSolidActionList"/>
    <dgm:cxn modelId="{739580D5-EF4A-4518-8708-54C49935F7F0}" type="presParOf" srcId="{2A677FF5-98CE-464B-9409-A8080F7339C1}" destId="{3499E1F5-0267-40CC-8A11-D8D29A620C64}" srcOrd="1" destOrd="0" presId="urn:microsoft.com/office/officeart/2016/7/layout/VerticalSolidActionList"/>
    <dgm:cxn modelId="{F8055145-EA71-404F-88E4-4A22077B7755}" type="presParOf" srcId="{2A677FF5-98CE-464B-9409-A8080F7339C1}" destId="{EFD0EF88-40CF-47D1-89A0-EBCA7B762B78}" srcOrd="2" destOrd="0" presId="urn:microsoft.com/office/officeart/2016/7/layout/VerticalSolidActionList"/>
    <dgm:cxn modelId="{18A8E968-EE95-405A-BD68-49E77A84BE4E}" type="presParOf" srcId="{EFD0EF88-40CF-47D1-89A0-EBCA7B762B78}" destId="{272537CB-EAE3-4429-BD9F-703B134EC339}" srcOrd="0" destOrd="0" presId="urn:microsoft.com/office/officeart/2016/7/layout/VerticalSolidActionList"/>
    <dgm:cxn modelId="{435B9B52-4774-4048-9C78-105A3EEFF9F6}" type="presParOf" srcId="{EFD0EF88-40CF-47D1-89A0-EBCA7B762B78}" destId="{CC33B74C-3FB6-4145-89EB-DC64DF868F58}" srcOrd="1" destOrd="0" presId="urn:microsoft.com/office/officeart/2016/7/layout/VerticalSolidActionList"/>
    <dgm:cxn modelId="{9935CFA2-F562-4707-A117-B68C3A83FF5B}" type="presParOf" srcId="{2A677FF5-98CE-464B-9409-A8080F7339C1}" destId="{51C6F14E-9844-44A4-A72A-8D9914EA1680}" srcOrd="3" destOrd="0" presId="urn:microsoft.com/office/officeart/2016/7/layout/VerticalSolidActionList"/>
    <dgm:cxn modelId="{F65BF25C-E0FE-4E2B-AA4A-0AC8FD7DCEDC}" type="presParOf" srcId="{2A677FF5-98CE-464B-9409-A8080F7339C1}" destId="{97701145-22DC-4802-991A-0145A49A9238}" srcOrd="4" destOrd="0" presId="urn:microsoft.com/office/officeart/2016/7/layout/VerticalSolidActionList"/>
    <dgm:cxn modelId="{BA6C0CD9-9B79-4ECB-9E9D-AAB1CF76E6FD}" type="presParOf" srcId="{97701145-22DC-4802-991A-0145A49A9238}" destId="{8B69E170-B7D4-4FFE-8DFC-E9368BE80CF6}" srcOrd="0" destOrd="0" presId="urn:microsoft.com/office/officeart/2016/7/layout/VerticalSolidActionList"/>
    <dgm:cxn modelId="{E4212C79-4E1B-47A9-B073-EB33F0D88364}" type="presParOf" srcId="{97701145-22DC-4802-991A-0145A49A9238}" destId="{FDD527A2-87D4-489C-AC95-3E96F4D9F9C0}" srcOrd="1" destOrd="0" presId="urn:microsoft.com/office/officeart/2016/7/layout/VerticalSolidActionList"/>
    <dgm:cxn modelId="{3848ACF7-C287-4800-85EC-EA4F75CEB96A}" type="presParOf" srcId="{2A677FF5-98CE-464B-9409-A8080F7339C1}" destId="{BB9714DE-D167-4A78-A08D-DE6210E8FA19}" srcOrd="5" destOrd="0" presId="urn:microsoft.com/office/officeart/2016/7/layout/VerticalSolidActionList"/>
    <dgm:cxn modelId="{07177C72-1930-451E-87E9-1FA74F845576}" type="presParOf" srcId="{2A677FF5-98CE-464B-9409-A8080F7339C1}" destId="{70FFE216-F319-4BB7-8772-65A4A690EED8}" srcOrd="6" destOrd="0" presId="urn:microsoft.com/office/officeart/2016/7/layout/VerticalSolidActionList"/>
    <dgm:cxn modelId="{B3C05963-BB22-4820-86BA-B3517B729242}" type="presParOf" srcId="{70FFE216-F319-4BB7-8772-65A4A690EED8}" destId="{D804B7AE-215E-4216-B909-E92FBCBE1A76}" srcOrd="0" destOrd="0" presId="urn:microsoft.com/office/officeart/2016/7/layout/VerticalSolidActionList"/>
    <dgm:cxn modelId="{65ACB622-6425-436E-9026-858174AEBD24}" type="presParOf" srcId="{70FFE216-F319-4BB7-8772-65A4A690EED8}" destId="{52DAAAB7-ED4A-4458-B5EE-8EC33E215DD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5DED9-5E5B-4BF7-B861-F01DF422C82F}">
      <dsp:nvSpPr>
        <dsp:cNvPr id="0" name=""/>
        <dsp:cNvSpPr/>
      </dsp:nvSpPr>
      <dsp:spPr>
        <a:xfrm>
          <a:off x="1269052" y="1629"/>
          <a:ext cx="5076208" cy="8438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93" tIns="214341" rIns="98493" bIns="2143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Analyze YouTube Trending Videos for UK region</a:t>
          </a:r>
        </a:p>
      </dsp:txBody>
      <dsp:txXfrm>
        <a:off x="1269052" y="1629"/>
        <a:ext cx="5076208" cy="843861"/>
      </dsp:txXfrm>
    </dsp:sp>
    <dsp:sp modelId="{D4FE35FE-1A6A-494A-A055-027C05129692}">
      <dsp:nvSpPr>
        <dsp:cNvPr id="0" name=""/>
        <dsp:cNvSpPr/>
      </dsp:nvSpPr>
      <dsp:spPr>
        <a:xfrm>
          <a:off x="0" y="1629"/>
          <a:ext cx="1269052" cy="843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54" tIns="83355" rIns="67154" bIns="833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Analyze</a:t>
          </a:r>
        </a:p>
      </dsp:txBody>
      <dsp:txXfrm>
        <a:off x="0" y="1629"/>
        <a:ext cx="1269052" cy="843861"/>
      </dsp:txXfrm>
    </dsp:sp>
    <dsp:sp modelId="{CC33B74C-3FB6-4145-89EB-DC64DF868F58}">
      <dsp:nvSpPr>
        <dsp:cNvPr id="0" name=""/>
        <dsp:cNvSpPr/>
      </dsp:nvSpPr>
      <dsp:spPr>
        <a:xfrm>
          <a:off x="1269052" y="896122"/>
          <a:ext cx="5076208" cy="8438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93" tIns="214341" rIns="98493" bIns="2143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Understand which channels/categories appear most</a:t>
          </a:r>
        </a:p>
      </dsp:txBody>
      <dsp:txXfrm>
        <a:off x="1269052" y="896122"/>
        <a:ext cx="5076208" cy="843861"/>
      </dsp:txXfrm>
    </dsp:sp>
    <dsp:sp modelId="{272537CB-EAE3-4429-BD9F-703B134EC339}">
      <dsp:nvSpPr>
        <dsp:cNvPr id="0" name=""/>
        <dsp:cNvSpPr/>
      </dsp:nvSpPr>
      <dsp:spPr>
        <a:xfrm>
          <a:off x="0" y="896122"/>
          <a:ext cx="1269052" cy="843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54" tIns="83355" rIns="67154" bIns="833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Understand</a:t>
          </a:r>
        </a:p>
      </dsp:txBody>
      <dsp:txXfrm>
        <a:off x="0" y="896122"/>
        <a:ext cx="1269052" cy="843861"/>
      </dsp:txXfrm>
    </dsp:sp>
    <dsp:sp modelId="{FDD527A2-87D4-489C-AC95-3E96F4D9F9C0}">
      <dsp:nvSpPr>
        <dsp:cNvPr id="0" name=""/>
        <dsp:cNvSpPr/>
      </dsp:nvSpPr>
      <dsp:spPr>
        <a:xfrm>
          <a:off x="1269052" y="1790615"/>
          <a:ext cx="5076208" cy="8438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93" tIns="214341" rIns="98493" bIns="2143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Identify factors influencing views &amp; engagement</a:t>
          </a:r>
        </a:p>
      </dsp:txBody>
      <dsp:txXfrm>
        <a:off x="1269052" y="1790615"/>
        <a:ext cx="5076208" cy="843861"/>
      </dsp:txXfrm>
    </dsp:sp>
    <dsp:sp modelId="{8B69E170-B7D4-4FFE-8DFC-E9368BE80CF6}">
      <dsp:nvSpPr>
        <dsp:cNvPr id="0" name=""/>
        <dsp:cNvSpPr/>
      </dsp:nvSpPr>
      <dsp:spPr>
        <a:xfrm>
          <a:off x="0" y="1790615"/>
          <a:ext cx="1269052" cy="843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54" tIns="83355" rIns="67154" bIns="833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Identify</a:t>
          </a:r>
        </a:p>
      </dsp:txBody>
      <dsp:txXfrm>
        <a:off x="0" y="1790615"/>
        <a:ext cx="1269052" cy="843861"/>
      </dsp:txXfrm>
    </dsp:sp>
    <dsp:sp modelId="{52DAAAB7-ED4A-4458-B5EE-8EC33E215DD6}">
      <dsp:nvSpPr>
        <dsp:cNvPr id="0" name=""/>
        <dsp:cNvSpPr/>
      </dsp:nvSpPr>
      <dsp:spPr>
        <a:xfrm>
          <a:off x="1269052" y="2685109"/>
          <a:ext cx="5076208" cy="8438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93" tIns="214341" rIns="98493" bIns="2143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Provide a channel insights toolkit for creators</a:t>
          </a:r>
        </a:p>
      </dsp:txBody>
      <dsp:txXfrm>
        <a:off x="1269052" y="2685109"/>
        <a:ext cx="5076208" cy="843861"/>
      </dsp:txXfrm>
    </dsp:sp>
    <dsp:sp modelId="{D804B7AE-215E-4216-B909-E92FBCBE1A76}">
      <dsp:nvSpPr>
        <dsp:cNvPr id="0" name=""/>
        <dsp:cNvSpPr/>
      </dsp:nvSpPr>
      <dsp:spPr>
        <a:xfrm>
          <a:off x="0" y="2685109"/>
          <a:ext cx="1269052" cy="843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54" tIns="83355" rIns="67154" bIns="833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</a:t>
          </a:r>
        </a:p>
      </dsp:txBody>
      <dsp:txXfrm>
        <a:off x="0" y="2685109"/>
        <a:ext cx="1269052" cy="843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7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3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7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7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0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66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1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7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45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78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81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68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74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33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3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5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YouTube Trending Video Analyzer + Channel Insights Toolkit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endParaRPr lang="en-GB" dirty="0">
              <a:solidFill>
                <a:schemeClr val="tx1"/>
              </a:solidFill>
            </a:endParaRPr>
          </a:p>
          <a:p>
            <a:pPr lvl="1"/>
            <a:r>
              <a:rPr lang="en-GB" dirty="0">
                <a:solidFill>
                  <a:schemeClr val="tx1"/>
                </a:solidFill>
              </a:rPr>
              <a:t>Group Members: </a:t>
            </a:r>
          </a:p>
          <a:p>
            <a:pPr marL="402336" lvl="1" indent="0">
              <a:buNone/>
            </a:pPr>
            <a:r>
              <a:rPr lang="en-GB" dirty="0">
                <a:solidFill>
                  <a:schemeClr val="tx1"/>
                </a:solidFill>
              </a:rPr>
              <a:t>Fatima Irfan (01-136242-009), Hamood Bin Hafeez (01-136242-011), Zohaib Raheel (01-136242-048)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Course: Programming for AI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Instructor: Ms. Samia Kiran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Dataset: GBvideos.csv (Kaggle)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GitHub Repository</a:t>
            </a:r>
            <a:r>
              <a:rPr lang="en-GB">
                <a:solidFill>
                  <a:schemeClr val="tx1"/>
                </a:solidFill>
              </a:rPr>
              <a:t>: (https://github.com/glitchhehe/youtube-trending-analytics-gb)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7FBFCFF-269A-263A-F224-F28E77BD02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4382" y="2489200"/>
          <a:ext cx="6345260" cy="353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843" y="1449324"/>
            <a:ext cx="1966300" cy="4391640"/>
          </a:xfrm>
        </p:spPr>
        <p:txBody>
          <a:bodyPr anchor="t">
            <a:normAutofit/>
          </a:bodyPr>
          <a:lstStyle/>
          <a:p>
            <a:r>
              <a:rPr lang="en-GB" sz="2400">
                <a:solidFill>
                  <a:schemeClr val="tx1"/>
                </a:solidFill>
              </a:rPr>
              <a:t>Dataset Description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794" y="1449324"/>
            <a:ext cx="4672665" cy="4391640"/>
          </a:xfrm>
        </p:spPr>
        <p:txBody>
          <a:bodyPr>
            <a:normAutofit/>
          </a:bodyPr>
          <a:lstStyle/>
          <a:p>
            <a:endParaRPr lang="en-GB">
              <a:solidFill>
                <a:schemeClr val="tx1"/>
              </a:solidFill>
            </a:endParaRPr>
          </a:p>
          <a:p>
            <a:pPr lvl="1"/>
            <a:r>
              <a:rPr lang="en-GB">
                <a:solidFill>
                  <a:schemeClr val="tx1"/>
                </a:solidFill>
              </a:rPr>
              <a:t>Dataset: YouTube Trending Videos (GB)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Rows/Columns: Varies depending on CSV version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Key Features: title, channel_title, views, likes, dislikes, comments, publish_time, tags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Limitations: Snapshot data, missing descriptions/tags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6726121" cy="3783781"/>
          </a:xfrm>
        </p:spPr>
        <p:txBody>
          <a:bodyPr/>
          <a:lstStyle/>
          <a:p>
            <a:endParaRPr dirty="0"/>
          </a:p>
          <a:p>
            <a:pPr lvl="1"/>
            <a:r>
              <a:rPr sz="1800" dirty="0"/>
              <a:t>Removed duplicates</a:t>
            </a:r>
          </a:p>
          <a:p>
            <a:pPr lvl="1"/>
            <a:r>
              <a:rPr sz="1800" dirty="0"/>
              <a:t>Handled missing descriptions and tags</a:t>
            </a:r>
          </a:p>
          <a:p>
            <a:pPr lvl="1"/>
            <a:r>
              <a:rPr sz="1800" dirty="0"/>
              <a:t>Converted dates (</a:t>
            </a:r>
            <a:r>
              <a:rPr sz="1800" dirty="0" err="1"/>
              <a:t>publish_time</a:t>
            </a:r>
            <a:r>
              <a:rPr sz="1800" dirty="0"/>
              <a:t>, </a:t>
            </a:r>
            <a:r>
              <a:rPr sz="1800" dirty="0" err="1"/>
              <a:t>trending_date</a:t>
            </a:r>
            <a:r>
              <a:rPr sz="1800" dirty="0"/>
              <a:t>)</a:t>
            </a:r>
          </a:p>
          <a:p>
            <a:pPr lvl="1"/>
            <a:r>
              <a:rPr sz="1800" dirty="0"/>
              <a:t>Converted numeric columns (views, likes, </a:t>
            </a:r>
            <a:r>
              <a:rPr sz="1800" dirty="0" err="1"/>
              <a:t>comment_count</a:t>
            </a:r>
            <a:r>
              <a:rPr sz="1800" dirty="0"/>
              <a:t>)</a:t>
            </a:r>
          </a:p>
          <a:p>
            <a:pPr lvl="1"/>
            <a:r>
              <a:rPr sz="1800" dirty="0"/>
              <a:t>Extracted features such as </a:t>
            </a:r>
            <a:r>
              <a:rPr sz="1800" dirty="0" err="1"/>
              <a:t>publish_hour</a:t>
            </a:r>
            <a:r>
              <a:rPr sz="1800" dirty="0"/>
              <a:t>, </a:t>
            </a:r>
            <a:r>
              <a:rPr sz="1800" dirty="0" err="1"/>
              <a:t>title_length</a:t>
            </a:r>
            <a:r>
              <a:rPr sz="1800" dirty="0"/>
              <a:t>,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GB" sz="2800">
                <a:solidFill>
                  <a:schemeClr val="tx1"/>
                </a:solidFill>
              </a:rPr>
              <a:t>Exploratory Data Analysis (EDA)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GB" dirty="0">
              <a:solidFill>
                <a:schemeClr val="tx1"/>
              </a:solidFill>
            </a:endParaRPr>
          </a:p>
          <a:p>
            <a:pPr lvl="1"/>
            <a:r>
              <a:rPr lang="en-GB" dirty="0">
                <a:solidFill>
                  <a:schemeClr val="tx1"/>
                </a:solidFill>
              </a:rPr>
              <a:t>Computed descriptive statistics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Identified top trending channels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Explored category distribution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Checked correlation patterns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Reviewed patterns in views and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Top trending channels bar chart</a:t>
            </a:r>
          </a:p>
          <a:p>
            <a:pPr lvl="1"/>
            <a:r>
              <a:t>Views vs Likes scatter plot</a:t>
            </a:r>
          </a:p>
          <a:p>
            <a:pPr lvl="1"/>
            <a:r>
              <a:t>Category frequency bar chart</a:t>
            </a:r>
          </a:p>
          <a:p>
            <a:pPr lvl="1"/>
            <a:r>
              <a:t>Average views by publish hour (line plot)</a:t>
            </a:r>
          </a:p>
          <a:p>
            <a:pPr lvl="1"/>
            <a:r>
              <a:t>Engagement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GB" sz="2800" dirty="0">
                <a:solidFill>
                  <a:srgbClr val="EBEBEB"/>
                </a:solidFill>
              </a:rPr>
              <a:t>System Logic /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pPr lvl="1"/>
            <a:r>
              <a:rPr lang="en-GB" sz="1700"/>
              <a:t>Created YouTubeAnalyzer class</a:t>
            </a:r>
          </a:p>
          <a:p>
            <a:pPr lvl="1"/>
            <a:r>
              <a:rPr lang="en-GB" sz="1700"/>
              <a:t>Functions for top channels, most engaging videos</a:t>
            </a:r>
          </a:p>
          <a:p>
            <a:pPr lvl="1"/>
            <a:r>
              <a:rPr lang="en-GB" sz="1700"/>
              <a:t>Category-level insights</a:t>
            </a:r>
          </a:p>
          <a:p>
            <a:pPr lvl="1"/>
            <a:r>
              <a:rPr lang="en-GB" sz="1700"/>
              <a:t>Rule-based recommendations</a:t>
            </a:r>
          </a:p>
          <a:p>
            <a:pPr lvl="1"/>
            <a:r>
              <a:rPr lang="en-GB" sz="1700"/>
              <a:t>Use of loops, conditions, and modular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Final Results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endParaRPr lang="en-GB" dirty="0">
              <a:solidFill>
                <a:schemeClr val="tx1"/>
              </a:solidFill>
            </a:endParaRP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Entertainment and Music dominate trending list</a:t>
            </a: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Videos trend within 1–3 days of publishing</a:t>
            </a: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Peak views typically in late afternoon hours</a:t>
            </a: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Strong views-likes correlation observed</a:t>
            </a: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Toolkit supports content planning for creators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GB" sz="2800">
                <a:solidFill>
                  <a:schemeClr val="tx1"/>
                </a:solidFill>
              </a:rPr>
              <a:t>Challenges &amp; Limitations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GB">
              <a:solidFill>
                <a:schemeClr val="tx1"/>
              </a:solidFill>
            </a:endParaRPr>
          </a:p>
          <a:p>
            <a:pPr lvl="1"/>
            <a:r>
              <a:rPr lang="en-GB">
                <a:solidFill>
                  <a:schemeClr val="tx1"/>
                </a:solidFill>
              </a:rPr>
              <a:t>Dataset contains incomplete or inconsistent entries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Trending dataset is only a snapshot, not full history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Tags are inconsistent and noisy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Limited computational context without YouTube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3EF4D6-026A-4D52-B916-967329EE3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4DB4846F-6AA5-4DB3-9581-D95F22BD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1797517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4EC22E-2292-4292-A80B-E81DF64BF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80041"/>
            <a:ext cx="9144000" cy="5077959"/>
          </a:xfrm>
          <a:custGeom>
            <a:avLst/>
            <a:gdLst>
              <a:gd name="connsiteX0" fmla="*/ 12192000 w 12192000"/>
              <a:gd name="connsiteY0" fmla="*/ 0 h 5077959"/>
              <a:gd name="connsiteX1" fmla="*/ 12192000 w 12192000"/>
              <a:gd name="connsiteY1" fmla="*/ 1972152 h 5077959"/>
              <a:gd name="connsiteX2" fmla="*/ 12192000 w 12192000"/>
              <a:gd name="connsiteY2" fmla="*/ 2361342 h 5077959"/>
              <a:gd name="connsiteX3" fmla="*/ 12192000 w 12192000"/>
              <a:gd name="connsiteY3" fmla="*/ 5077959 h 5077959"/>
              <a:gd name="connsiteX4" fmla="*/ 0 w 12192000"/>
              <a:gd name="connsiteY4" fmla="*/ 5077959 h 5077959"/>
              <a:gd name="connsiteX5" fmla="*/ 0 w 12192000"/>
              <a:gd name="connsiteY5" fmla="*/ 2361342 h 5077959"/>
              <a:gd name="connsiteX6" fmla="*/ 0 w 12192000"/>
              <a:gd name="connsiteY6" fmla="*/ 1972152 h 5077959"/>
              <a:gd name="connsiteX7" fmla="*/ 0 w 12192000"/>
              <a:gd name="connsiteY7" fmla="*/ 12515 h 5077959"/>
              <a:gd name="connsiteX8" fmla="*/ 108623 w 12192000"/>
              <a:gd name="connsiteY8" fmla="*/ 29540 h 5077959"/>
              <a:gd name="connsiteX9" fmla="*/ 300195 w 12192000"/>
              <a:gd name="connsiteY9" fmla="*/ 56163 h 5077959"/>
              <a:gd name="connsiteX10" fmla="*/ 527528 w 12192000"/>
              <a:gd name="connsiteY10" fmla="*/ 88041 h 5077959"/>
              <a:gd name="connsiteX11" fmla="*/ 779127 w 12192000"/>
              <a:gd name="connsiteY11" fmla="*/ 121671 h 5077959"/>
              <a:gd name="connsiteX12" fmla="*/ 1062654 w 12192000"/>
              <a:gd name="connsiteY12" fmla="*/ 157052 h 5077959"/>
              <a:gd name="connsiteX13" fmla="*/ 1371726 w 12192000"/>
              <a:gd name="connsiteY13" fmla="*/ 194535 h 5077959"/>
              <a:gd name="connsiteX14" fmla="*/ 1707616 w 12192000"/>
              <a:gd name="connsiteY14" fmla="*/ 232018 h 5077959"/>
              <a:gd name="connsiteX15" fmla="*/ 2065219 w 12192000"/>
              <a:gd name="connsiteY15" fmla="*/ 270201 h 5077959"/>
              <a:gd name="connsiteX16" fmla="*/ 2450918 w 12192000"/>
              <a:gd name="connsiteY16" fmla="*/ 305583 h 5077959"/>
              <a:gd name="connsiteX17" fmla="*/ 2854496 w 12192000"/>
              <a:gd name="connsiteY17" fmla="*/ 339562 h 5077959"/>
              <a:gd name="connsiteX18" fmla="*/ 3281065 w 12192000"/>
              <a:gd name="connsiteY18" fmla="*/ 370390 h 5077959"/>
              <a:gd name="connsiteX19" fmla="*/ 3725514 w 12192000"/>
              <a:gd name="connsiteY19" fmla="*/ 399815 h 5077959"/>
              <a:gd name="connsiteX20" fmla="*/ 4189119 w 12192000"/>
              <a:gd name="connsiteY20" fmla="*/ 427490 h 5077959"/>
              <a:gd name="connsiteX21" fmla="*/ 4426671 w 12192000"/>
              <a:gd name="connsiteY21" fmla="*/ 437298 h 5077959"/>
              <a:gd name="connsiteX22" fmla="*/ 4669330 w 12192000"/>
              <a:gd name="connsiteY22" fmla="*/ 448158 h 5077959"/>
              <a:gd name="connsiteX23" fmla="*/ 4915819 w 12192000"/>
              <a:gd name="connsiteY23" fmla="*/ 458317 h 5077959"/>
              <a:gd name="connsiteX24" fmla="*/ 5163586 w 12192000"/>
              <a:gd name="connsiteY24" fmla="*/ 464973 h 5077959"/>
              <a:gd name="connsiteX25" fmla="*/ 5416461 w 12192000"/>
              <a:gd name="connsiteY25" fmla="*/ 470928 h 5077959"/>
              <a:gd name="connsiteX26" fmla="*/ 5671892 w 12192000"/>
              <a:gd name="connsiteY26" fmla="*/ 477234 h 5077959"/>
              <a:gd name="connsiteX27" fmla="*/ 5932430 w 12192000"/>
              <a:gd name="connsiteY27" fmla="*/ 481437 h 5077959"/>
              <a:gd name="connsiteX28" fmla="*/ 6195523 w 12192000"/>
              <a:gd name="connsiteY28" fmla="*/ 481437 h 5077959"/>
              <a:gd name="connsiteX29" fmla="*/ 6461170 w 12192000"/>
              <a:gd name="connsiteY29" fmla="*/ 483539 h 5077959"/>
              <a:gd name="connsiteX30" fmla="*/ 6729372 w 12192000"/>
              <a:gd name="connsiteY30" fmla="*/ 481437 h 5077959"/>
              <a:gd name="connsiteX31" fmla="*/ 7001406 w 12192000"/>
              <a:gd name="connsiteY31" fmla="*/ 477234 h 5077959"/>
              <a:gd name="connsiteX32" fmla="*/ 7273439 w 12192000"/>
              <a:gd name="connsiteY32" fmla="*/ 473380 h 5077959"/>
              <a:gd name="connsiteX33" fmla="*/ 7549303 w 12192000"/>
              <a:gd name="connsiteY33" fmla="*/ 464973 h 5077959"/>
              <a:gd name="connsiteX34" fmla="*/ 7827722 w 12192000"/>
              <a:gd name="connsiteY34" fmla="*/ 456215 h 5077959"/>
              <a:gd name="connsiteX35" fmla="*/ 8106140 w 12192000"/>
              <a:gd name="connsiteY35" fmla="*/ 446056 h 5077959"/>
              <a:gd name="connsiteX36" fmla="*/ 8387114 w 12192000"/>
              <a:gd name="connsiteY36" fmla="*/ 431694 h 5077959"/>
              <a:gd name="connsiteX37" fmla="*/ 8670640 w 12192000"/>
              <a:gd name="connsiteY37" fmla="*/ 414528 h 5077959"/>
              <a:gd name="connsiteX38" fmla="*/ 8955446 w 12192000"/>
              <a:gd name="connsiteY38" fmla="*/ 398064 h 5077959"/>
              <a:gd name="connsiteX39" fmla="*/ 9240250 w 12192000"/>
              <a:gd name="connsiteY39" fmla="*/ 377045 h 5077959"/>
              <a:gd name="connsiteX40" fmla="*/ 9528886 w 12192000"/>
              <a:gd name="connsiteY40" fmla="*/ 351823 h 5077959"/>
              <a:gd name="connsiteX41" fmla="*/ 9813691 w 12192000"/>
              <a:gd name="connsiteY41" fmla="*/ 326601 h 5077959"/>
              <a:gd name="connsiteX42" fmla="*/ 10103603 w 12192000"/>
              <a:gd name="connsiteY42" fmla="*/ 297525 h 5077959"/>
              <a:gd name="connsiteX43" fmla="*/ 10394794 w 12192000"/>
              <a:gd name="connsiteY43" fmla="*/ 265647 h 5077959"/>
              <a:gd name="connsiteX44" fmla="*/ 10682153 w 12192000"/>
              <a:gd name="connsiteY44" fmla="*/ 232018 h 5077959"/>
              <a:gd name="connsiteX45" fmla="*/ 10973344 w 12192000"/>
              <a:gd name="connsiteY45" fmla="*/ 192783 h 5077959"/>
              <a:gd name="connsiteX46" fmla="*/ 11263257 w 12192000"/>
              <a:gd name="connsiteY46" fmla="*/ 150746 h 5077959"/>
              <a:gd name="connsiteX47" fmla="*/ 11554448 w 12192000"/>
              <a:gd name="connsiteY47" fmla="*/ 109060 h 5077959"/>
              <a:gd name="connsiteX48" fmla="*/ 11844360 w 12192000"/>
              <a:gd name="connsiteY48" fmla="*/ 60367 h 5077959"/>
              <a:gd name="connsiteX49" fmla="*/ 12132996 w 12192000"/>
              <a:gd name="connsiteY49" fmla="*/ 10623 h 507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2192000" h="5077959">
                <a:moveTo>
                  <a:pt x="12192000" y="0"/>
                </a:moveTo>
                <a:lnTo>
                  <a:pt x="12192000" y="1972152"/>
                </a:lnTo>
                <a:lnTo>
                  <a:pt x="12192000" y="2361342"/>
                </a:lnTo>
                <a:lnTo>
                  <a:pt x="12192000" y="5077959"/>
                </a:lnTo>
                <a:lnTo>
                  <a:pt x="0" y="5077959"/>
                </a:lnTo>
                <a:lnTo>
                  <a:pt x="0" y="2361342"/>
                </a:lnTo>
                <a:lnTo>
                  <a:pt x="0" y="1972152"/>
                </a:lnTo>
                <a:lnTo>
                  <a:pt x="0" y="12515"/>
                </a:lnTo>
                <a:lnTo>
                  <a:pt x="108623" y="29540"/>
                </a:lnTo>
                <a:lnTo>
                  <a:pt x="300195" y="56163"/>
                </a:lnTo>
                <a:lnTo>
                  <a:pt x="527528" y="88041"/>
                </a:lnTo>
                <a:lnTo>
                  <a:pt x="779127" y="121671"/>
                </a:lnTo>
                <a:lnTo>
                  <a:pt x="1062654" y="157052"/>
                </a:lnTo>
                <a:lnTo>
                  <a:pt x="1371726" y="194535"/>
                </a:lnTo>
                <a:lnTo>
                  <a:pt x="1707616" y="232018"/>
                </a:lnTo>
                <a:lnTo>
                  <a:pt x="2065219" y="270201"/>
                </a:lnTo>
                <a:lnTo>
                  <a:pt x="2450918" y="305583"/>
                </a:lnTo>
                <a:lnTo>
                  <a:pt x="2854496" y="339562"/>
                </a:lnTo>
                <a:lnTo>
                  <a:pt x="3281065" y="370390"/>
                </a:lnTo>
                <a:lnTo>
                  <a:pt x="3725514" y="399815"/>
                </a:lnTo>
                <a:lnTo>
                  <a:pt x="4189119" y="427490"/>
                </a:lnTo>
                <a:lnTo>
                  <a:pt x="4426671" y="437298"/>
                </a:lnTo>
                <a:lnTo>
                  <a:pt x="4669330" y="448158"/>
                </a:lnTo>
                <a:lnTo>
                  <a:pt x="4915819" y="458317"/>
                </a:lnTo>
                <a:lnTo>
                  <a:pt x="5163586" y="464973"/>
                </a:lnTo>
                <a:lnTo>
                  <a:pt x="5416461" y="470928"/>
                </a:lnTo>
                <a:lnTo>
                  <a:pt x="5671892" y="477234"/>
                </a:lnTo>
                <a:lnTo>
                  <a:pt x="5932430" y="481437"/>
                </a:lnTo>
                <a:lnTo>
                  <a:pt x="6195523" y="481437"/>
                </a:lnTo>
                <a:lnTo>
                  <a:pt x="6461170" y="483539"/>
                </a:lnTo>
                <a:lnTo>
                  <a:pt x="6729372" y="481437"/>
                </a:lnTo>
                <a:lnTo>
                  <a:pt x="7001406" y="477234"/>
                </a:lnTo>
                <a:lnTo>
                  <a:pt x="7273439" y="473380"/>
                </a:lnTo>
                <a:lnTo>
                  <a:pt x="7549303" y="464973"/>
                </a:lnTo>
                <a:lnTo>
                  <a:pt x="7827722" y="456215"/>
                </a:lnTo>
                <a:lnTo>
                  <a:pt x="8106140" y="446056"/>
                </a:lnTo>
                <a:lnTo>
                  <a:pt x="8387114" y="431694"/>
                </a:lnTo>
                <a:lnTo>
                  <a:pt x="8670640" y="414528"/>
                </a:lnTo>
                <a:lnTo>
                  <a:pt x="8955446" y="398064"/>
                </a:lnTo>
                <a:lnTo>
                  <a:pt x="9240250" y="377045"/>
                </a:lnTo>
                <a:lnTo>
                  <a:pt x="9528886" y="351823"/>
                </a:lnTo>
                <a:lnTo>
                  <a:pt x="9813691" y="326601"/>
                </a:lnTo>
                <a:lnTo>
                  <a:pt x="10103603" y="297525"/>
                </a:lnTo>
                <a:lnTo>
                  <a:pt x="10394794" y="265647"/>
                </a:lnTo>
                <a:lnTo>
                  <a:pt x="10682153" y="232018"/>
                </a:lnTo>
                <a:lnTo>
                  <a:pt x="10973344" y="192783"/>
                </a:lnTo>
                <a:lnTo>
                  <a:pt x="11263257" y="150746"/>
                </a:lnTo>
                <a:lnTo>
                  <a:pt x="11554448" y="109060"/>
                </a:lnTo>
                <a:lnTo>
                  <a:pt x="11844360" y="60367"/>
                </a:lnTo>
                <a:lnTo>
                  <a:pt x="12132996" y="106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2A2039-50D4-4D49-A79F-C82A1D913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1C7165-8A3A-44EB-88D0-4EFA36A00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 useBgFill="1">
          <p:nvSpPr>
            <p:cNvPr id="16" name="Freeform 5">
              <a:extLst>
                <a:ext uri="{FF2B5EF4-FFF2-40B4-BE49-F238E27FC236}">
                  <a16:creationId xmlns:a16="http://schemas.microsoft.com/office/drawing/2014/main" id="{A1081473-BB93-49A4-B605-4E2053739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38200"/>
            <a:ext cx="6571060" cy="9779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424" y="2603500"/>
            <a:ext cx="6313152" cy="3416300"/>
          </a:xfrm>
        </p:spPr>
        <p:txBody>
          <a:bodyPr>
            <a:normAutofit/>
          </a:bodyPr>
          <a:lstStyle/>
          <a:p>
            <a:endParaRPr/>
          </a:p>
          <a:p>
            <a:pPr lvl="1"/>
            <a:r>
              <a:t>Successfully analyzed UK YouTube trending patterns</a:t>
            </a:r>
          </a:p>
          <a:p>
            <a:pPr lvl="1"/>
            <a:r>
              <a:t>Developed a functional analytics toolkit</a:t>
            </a:r>
          </a:p>
          <a:p>
            <a:pPr lvl="1"/>
            <a:r>
              <a:t>Identified meaningful patterns for creators</a:t>
            </a:r>
          </a:p>
          <a:p>
            <a:pPr lvl="1"/>
            <a:r>
              <a:t>Future: integrate YouTube Data API &amp; sentiment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GB">
                <a:solidFill>
                  <a:schemeClr val="tx1"/>
                </a:solidFill>
              </a:rPr>
              <a:t>Credits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endParaRPr lang="en-GB">
              <a:solidFill>
                <a:schemeClr val="tx1"/>
              </a:solidFill>
            </a:endParaRPr>
          </a:p>
          <a:p>
            <a:pPr lvl="1"/>
            <a:r>
              <a:rPr lang="en-GB">
                <a:solidFill>
                  <a:schemeClr val="tx1"/>
                </a:solidFill>
              </a:rPr>
              <a:t>Tools: Pandas, NumPy, Matplotlib, Google Colab, Git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Dataset Source: Kaggle — YouTube Trending Videos (GB)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GitHub Repository Link: (To be added)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</TotalTime>
  <Words>397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YouTube Trending Video Analyzer + Channel Insights Toolkit</vt:lpstr>
      <vt:lpstr>Problem Statement</vt:lpstr>
      <vt:lpstr>Dataset Description</vt:lpstr>
      <vt:lpstr>Data Cleaning &amp; Preprocessing</vt:lpstr>
      <vt:lpstr>Exploratory Data Analysis (EDA)</vt:lpstr>
      <vt:lpstr>Visualizations &amp; Insights</vt:lpstr>
      <vt:lpstr>System Logic / Functions</vt:lpstr>
      <vt:lpstr>Final Results &amp; Interpretation</vt:lpstr>
      <vt:lpstr>Challenges &amp; Limitations</vt:lpstr>
      <vt:lpstr>Conclusion &amp; Future Work</vt:lpstr>
      <vt:lpstr>Credits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Fatima Irfan</cp:lastModifiedBy>
  <cp:revision>2</cp:revision>
  <dcterms:created xsi:type="dcterms:W3CDTF">2013-01-27T09:14:16Z</dcterms:created>
  <dcterms:modified xsi:type="dcterms:W3CDTF">2025-12-11T18:33:02Z</dcterms:modified>
  <cp:category/>
</cp:coreProperties>
</file>